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9596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4297680"/>
          </a:xfrm>
          <a:prstGeom prst="ellipse">
            <a:avLst/>
          </a:prstGeom>
          <a:solidFill>
            <a:srgbClr val="252E53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66360"/>
            <a:ext cx="1828800" cy="1655064"/>
          </a:xfrm>
          <a:prstGeom prst="ellipse">
            <a:avLst/>
          </a:prstGeom>
          <a:solidFill>
            <a:srgbClr val="116A73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365760"/>
            <a:ext cx="2811780" cy="347472"/>
          </a:xfrm>
          <a:prstGeom prst="roundRect">
            <a:avLst>
              <a:gd name="adj" fmla="val 42105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429768"/>
            <a:ext cx="2583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TV-FIRST COLLABORATIVE LEARNING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76656" y="1399032"/>
            <a:ext cx="4992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PaperSprint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676656" y="1984248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7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TV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685800" y="2852928"/>
            <a:ext cx="49377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Big screen.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Shared knowledge.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704088" y="4050792"/>
            <a:ext cx="4663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individual revision into a friendly,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remote-driven team quiz for the living room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classroom.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870448" y="1389888"/>
            <a:ext cx="5760720" cy="3337560"/>
          </a:xfrm>
          <a:prstGeom prst="roundRect">
            <a:avLst>
              <a:gd name="adj" fmla="val 2740"/>
            </a:avLst>
          </a:prstGeom>
          <a:solidFill>
            <a:srgbClr val="10182F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pic>
        <p:nvPicPr>
          <p:cNvPr id="11" name="Image 0" descr="/mnt/data/papersprint_tvos_build/home_t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56" y="1453896"/>
            <a:ext cx="5632704" cy="320954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925312" y="4764024"/>
            <a:ext cx="5623560" cy="438912"/>
          </a:xfrm>
          <a:prstGeom prst="roundRect">
            <a:avLst>
              <a:gd name="adj" fmla="val 33333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44768" y="4873752"/>
            <a:ext cx="5285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WORKING tvOS PROTOTYPE   •   APPLE TV SIMULATOR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" y="5404104"/>
            <a:ext cx="1508760" cy="411480"/>
          </a:xfrm>
          <a:prstGeom prst="roundRect">
            <a:avLst>
              <a:gd name="adj" fmla="val 35556"/>
            </a:avLst>
          </a:prstGeom>
          <a:solidFill>
            <a:srgbClr val="1C2744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54818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2–4 teams</a:t>
            </a:r>
            <a:endParaRPr lang="en-US" sz="1240" dirty="0"/>
          </a:p>
        </p:txBody>
      </p:sp>
      <p:sp>
        <p:nvSpPr>
          <p:cNvPr id="16" name="Shape 13"/>
          <p:cNvSpPr/>
          <p:nvPr/>
        </p:nvSpPr>
        <p:spPr>
          <a:xfrm>
            <a:off x="2350008" y="5404104"/>
            <a:ext cx="1737360" cy="411480"/>
          </a:xfrm>
          <a:prstGeom prst="roundRect">
            <a:avLst>
              <a:gd name="adj" fmla="val 35556"/>
            </a:avLst>
          </a:prstGeom>
          <a:solidFill>
            <a:srgbClr val="1C2744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496312" y="54818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30 questions</a:t>
            </a:r>
            <a:endParaRPr lang="en-US" sz="1240" dirty="0"/>
          </a:p>
        </p:txBody>
      </p:sp>
      <p:sp>
        <p:nvSpPr>
          <p:cNvPr id="18" name="Shape 15"/>
          <p:cNvSpPr/>
          <p:nvPr/>
        </p:nvSpPr>
        <p:spPr>
          <a:xfrm>
            <a:off x="4215384" y="5404104"/>
            <a:ext cx="1920240" cy="411480"/>
          </a:xfrm>
          <a:prstGeom prst="roundRect">
            <a:avLst>
              <a:gd name="adj" fmla="val 35556"/>
            </a:avLst>
          </a:prstGeom>
          <a:solidFill>
            <a:srgbClr val="1C2744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61688" y="548182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 shared remote</a:t>
            </a:r>
            <a:endParaRPr lang="en-US" sz="1240" dirty="0"/>
          </a:p>
        </p:txBody>
      </p:sp>
      <p:sp>
        <p:nvSpPr>
          <p:cNvPr id="20" name="Shape 17"/>
          <p:cNvSpPr/>
          <p:nvPr/>
        </p:nvSpPr>
        <p:spPr>
          <a:xfrm>
            <a:off x="585216" y="6519672"/>
            <a:ext cx="11009376" cy="0"/>
          </a:xfrm>
          <a:prstGeom prst="line">
            <a:avLst/>
          </a:prstGeom>
          <a:noFill/>
          <a:ln w="12700">
            <a:solidFill>
              <a:srgbClr val="303D5A">
                <a:alpha val="82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2648" y="6601968"/>
            <a:ext cx="9144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kern="0" spc="45" dirty="0">
                <a:solidFill>
                  <a:srgbClr val="8591A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PAPERSPRINT TV / SE4041 PART B   •   HIMSARA MKDL · IT22274298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10972800" y="6583680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8591A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 / 12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4297680"/>
          </a:xfrm>
          <a:prstGeom prst="ellipse">
            <a:avLst/>
          </a:prstGeom>
          <a:solidFill>
            <a:srgbClr val="252E53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66360"/>
            <a:ext cx="1828800" cy="1655064"/>
          </a:xfrm>
          <a:prstGeom prst="ellipse">
            <a:avLst/>
          </a:prstGeom>
          <a:solidFill>
            <a:srgbClr val="116A73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365760"/>
            <a:ext cx="1645920" cy="347472"/>
          </a:xfrm>
          <a:prstGeom prst="roundRect">
            <a:avLst>
              <a:gd name="adj" fmla="val 42105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42976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WHY THIS MATTERS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5216" y="859536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Revision should not have to be a solo sport.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10972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already practise on personal screens. Group revision can be simpler and more social.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167128"/>
            <a:ext cx="3621024" cy="2926080"/>
          </a:xfrm>
          <a:prstGeom prst="roundRect">
            <a:avLst>
              <a:gd name="adj" fmla="val 5000"/>
            </a:avLst>
          </a:prstGeom>
          <a:solidFill>
            <a:srgbClr val="161E38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4144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813816" y="307238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Solo-first revision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22960" y="355701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short quizzes are completed individually, even when friends study together.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29992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75" dirty="0">
                <a:solidFill>
                  <a:srgbClr val="99A8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LIMITED SHARED MOMENT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2167128"/>
            <a:ext cx="3621024" cy="2926080"/>
          </a:xfrm>
          <a:prstGeom prst="roundRect">
            <a:avLst>
              <a:gd name="adj" fmla="val 5000"/>
            </a:avLst>
          </a:prstGeom>
          <a:solidFill>
            <a:srgbClr val="161E38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44144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4700016" y="307238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Setup friction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709160" y="355701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 links, joining codes and separate controllers can interrupt spontaneous group practice.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09160" y="4754880"/>
            <a:ext cx="29992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75" dirty="0">
                <a:solidFill>
                  <a:srgbClr val="99A8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MORE STEPS TO START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66760" y="2167128"/>
            <a:ext cx="3621024" cy="2926080"/>
          </a:xfrm>
          <a:prstGeom prst="roundRect">
            <a:avLst>
              <a:gd name="adj" fmla="val 5000"/>
            </a:avLst>
          </a:prstGeom>
          <a:solidFill>
            <a:srgbClr val="161E38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244144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2900" dirty="0"/>
          </a:p>
        </p:txBody>
      </p:sp>
      <p:sp>
        <p:nvSpPr>
          <p:cNvPr id="20" name="Text 18"/>
          <p:cNvSpPr/>
          <p:nvPr/>
        </p:nvSpPr>
        <p:spPr>
          <a:xfrm>
            <a:off x="8586216" y="307238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Underused big screen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595360" y="355701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Apple TV can turn questions and answers into an accessible group activity.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95360" y="4754880"/>
            <a:ext cx="29992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75" dirty="0">
                <a:solidFill>
                  <a:srgbClr val="99A8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TV AS A LEARNING SPACE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" y="5440680"/>
            <a:ext cx="10972800" cy="621792"/>
          </a:xfrm>
          <a:prstGeom prst="roundRect">
            <a:avLst>
              <a:gd name="adj" fmla="val 23529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" y="5632704"/>
            <a:ext cx="10387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OPPORTUNITY  →  Fast, face-to-face revision using one television and one shared remote.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85216" y="6519672"/>
            <a:ext cx="11009376" cy="0"/>
          </a:xfrm>
          <a:prstGeom prst="line">
            <a:avLst/>
          </a:prstGeom>
          <a:noFill/>
          <a:ln w="12700">
            <a:solidFill>
              <a:srgbClr val="303D5A">
                <a:alpha val="8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" y="6601968"/>
            <a:ext cx="9144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kern="0" spc="45" dirty="0">
                <a:solidFill>
                  <a:srgbClr val="8591A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PAPERSPRINT TV / SE4041 PART B   •   HIMSARA MKDL · IT22274298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10972800" y="6583680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8591A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 / 12</a:t>
            </a:r>
            <a:endParaRPr lang="en-US" sz="9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4297680"/>
          </a:xfrm>
          <a:prstGeom prst="ellipse">
            <a:avLst/>
          </a:prstGeom>
          <a:solidFill>
            <a:srgbClr val="252E53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66360"/>
            <a:ext cx="1828800" cy="1655064"/>
          </a:xfrm>
          <a:prstGeom prst="ellipse">
            <a:avLst/>
          </a:prstGeom>
          <a:solidFill>
            <a:srgbClr val="116A73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365760"/>
            <a:ext cx="1490472" cy="347472"/>
          </a:xfrm>
          <a:prstGeom prst="roundRect">
            <a:avLst>
              <a:gd name="adj" fmla="val 42105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42976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PRODUCT THESIS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5216" y="859536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One learning concept. Two complementary screens.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10972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PaperSprint iOS supports individual revision; PaperSprint TV makes it a shared team challenge.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2648" y="2121408"/>
            <a:ext cx="3557016" cy="3054096"/>
          </a:xfrm>
          <a:prstGeom prst="roundRect">
            <a:avLst>
              <a:gd name="adj" fmla="val 4790"/>
            </a:avLst>
          </a:prstGeom>
          <a:solidFill>
            <a:srgbClr val="161E38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04872"/>
            <a:ext cx="576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81328" y="240487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READ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850392" y="2916936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99A8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ON iPHONE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343814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Personal revision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41248" y="3968496"/>
            <a:ext cx="30358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short Swift lessons and review your own quiz results.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4242816" y="3328416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→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4489704" y="2121408"/>
            <a:ext cx="3557016" cy="3054096"/>
          </a:xfrm>
          <a:prstGeom prst="roundRect">
            <a:avLst>
              <a:gd name="adj" fmla="val 4790"/>
            </a:avLst>
          </a:prstGeom>
          <a:solidFill>
            <a:srgbClr val="161E38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2404872"/>
            <a:ext cx="576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358384" y="240487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GATHER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727448" y="2916936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99A8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ON APPLE TV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18304" y="343814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Build the match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18304" y="3968496"/>
            <a:ext cx="30358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 topic, 2–4 teams and an eligible number of rounds.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8119872" y="3328416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→</a:t>
            </a:r>
            <a:endParaRPr lang="en-US" sz="2500" dirty="0"/>
          </a:p>
        </p:txBody>
      </p:sp>
      <p:sp>
        <p:nvSpPr>
          <p:cNvPr id="22" name="Shape 20"/>
          <p:cNvSpPr/>
          <p:nvPr/>
        </p:nvSpPr>
        <p:spPr>
          <a:xfrm>
            <a:off x="8366760" y="2121408"/>
            <a:ext cx="3557016" cy="3054096"/>
          </a:xfrm>
          <a:prstGeom prst="roundRect">
            <a:avLst>
              <a:gd name="adj" fmla="val 4790"/>
            </a:avLst>
          </a:prstGeom>
          <a:solidFill>
            <a:srgbClr val="161E38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77072" y="2404872"/>
            <a:ext cx="576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235440" y="240487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PLAY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8604504" y="2916936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99A8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ON APPLE TV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95360" y="343814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Pass and compete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595360" y="3968496"/>
            <a:ext cx="30358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turns with one remote, see instant feedback and celebrate the winner.</a:t>
            </a:r>
            <a:endParaRPr lang="en-US" sz="1420" dirty="0"/>
          </a:p>
        </p:txBody>
      </p:sp>
      <p:sp>
        <p:nvSpPr>
          <p:cNvPr id="28" name="Shape 26"/>
          <p:cNvSpPr/>
          <p:nvPr/>
        </p:nvSpPr>
        <p:spPr>
          <a:xfrm>
            <a:off x="612648" y="5468112"/>
            <a:ext cx="10972800" cy="594360"/>
          </a:xfrm>
          <a:prstGeom prst="roundRect">
            <a:avLst>
              <a:gd name="adj" fmla="val 24615"/>
            </a:avLst>
          </a:prstGeom>
          <a:solidFill>
            <a:srgbClr val="10192F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" y="5632704"/>
            <a:ext cx="10552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 •  The two apps share the subject and question concept, but do not require accounts, cloud sync or phone pairing.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5216" y="6519672"/>
            <a:ext cx="11009376" cy="0"/>
          </a:xfrm>
          <a:prstGeom prst="line">
            <a:avLst/>
          </a:prstGeom>
          <a:noFill/>
          <a:ln w="12700">
            <a:solidFill>
              <a:srgbClr val="303D5A">
                <a:alpha val="8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" y="6601968"/>
            <a:ext cx="9144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kern="0" spc="45" dirty="0">
                <a:solidFill>
                  <a:srgbClr val="8591A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PAPERSPRINT TV / SE4041 PART B   •   HIMSARA MKDL · IT22274298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10972800" y="6583680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8591A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 / 12</a:t>
            </a:r>
            <a:endParaRPr lang="en-US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4297680"/>
          </a:xfrm>
          <a:prstGeom prst="ellipse">
            <a:avLst/>
          </a:prstGeom>
          <a:solidFill>
            <a:srgbClr val="252E53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66360"/>
            <a:ext cx="1828800" cy="1655064"/>
          </a:xfrm>
          <a:prstGeom prst="ellipse">
            <a:avLst/>
          </a:prstGeom>
          <a:solidFill>
            <a:srgbClr val="116A73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365760"/>
            <a:ext cx="2578608" cy="347472"/>
          </a:xfrm>
          <a:prstGeom prst="roundRect">
            <a:avLst>
              <a:gd name="adj" fmla="val 42105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42976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PROTOTYPE / FIRST IMPRESSION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5216" y="859536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Designed for the sofa, not stretched from a phone.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10972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typography, few decisions and unmistakable remote focus states.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30352" y="1965960"/>
            <a:ext cx="7516368" cy="4297680"/>
          </a:xfrm>
          <a:prstGeom prst="roundRect">
            <a:avLst>
              <a:gd name="adj" fmla="val 2128"/>
            </a:avLst>
          </a:prstGeom>
          <a:solidFill>
            <a:srgbClr val="10182F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pic>
        <p:nvPicPr>
          <p:cNvPr id="9" name="Image 0" descr="/mnt/data/papersprint_tvos_build/home_t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29968"/>
            <a:ext cx="7388352" cy="41696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6373368"/>
            <a:ext cx="7388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8591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APPLE TV 4K SIMULATOR CAPTURE  /  HOME SCREEN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302752" y="2176272"/>
            <a:ext cx="338328" cy="338328"/>
          </a:xfrm>
          <a:prstGeom prst="roundRect">
            <a:avLst>
              <a:gd name="adj" fmla="val 27027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67674" y="2244852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778240" y="21717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Instant entry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778240" y="2505456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a match or view how-to-play instructions directly from the landing screen.</a:t>
            </a:r>
            <a:endParaRPr lang="en-US" sz="1270" dirty="0"/>
          </a:p>
        </p:txBody>
      </p:sp>
      <p:sp>
        <p:nvSpPr>
          <p:cNvPr id="15" name="Shape 12"/>
          <p:cNvSpPr/>
          <p:nvPr/>
        </p:nvSpPr>
        <p:spPr>
          <a:xfrm>
            <a:off x="8302752" y="3447288"/>
            <a:ext cx="338328" cy="338328"/>
          </a:xfrm>
          <a:prstGeom prst="roundRect">
            <a:avLst>
              <a:gd name="adj" fmla="val 27027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67674" y="3515868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778240" y="344271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Room-ready setup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778240" y="3776472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television-first layout keeps every major action readable across the room.</a:t>
            </a:r>
            <a:endParaRPr lang="en-US" sz="1270" dirty="0"/>
          </a:p>
        </p:txBody>
      </p:sp>
      <p:sp>
        <p:nvSpPr>
          <p:cNvPr id="19" name="Shape 16"/>
          <p:cNvSpPr/>
          <p:nvPr/>
        </p:nvSpPr>
        <p:spPr>
          <a:xfrm>
            <a:off x="8302752" y="4709160"/>
            <a:ext cx="338328" cy="338328"/>
          </a:xfrm>
          <a:prstGeom prst="roundRect">
            <a:avLst>
              <a:gd name="adj" fmla="val 27027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67674" y="4777740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778240" y="47045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No extra accounts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778240" y="5038344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bundled sample question library works locally without a server or join code.</a:t>
            </a:r>
            <a:endParaRPr lang="en-US" sz="1270" dirty="0"/>
          </a:p>
        </p:txBody>
      </p:sp>
      <p:sp>
        <p:nvSpPr>
          <p:cNvPr id="23" name="Shape 20"/>
          <p:cNvSpPr/>
          <p:nvPr/>
        </p:nvSpPr>
        <p:spPr>
          <a:xfrm>
            <a:off x="585216" y="6519672"/>
            <a:ext cx="11009376" cy="0"/>
          </a:xfrm>
          <a:prstGeom prst="line">
            <a:avLst/>
          </a:prstGeom>
          <a:noFill/>
          <a:ln w="12700">
            <a:solidFill>
              <a:srgbClr val="303D5A">
                <a:alpha val="82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2648" y="6601968"/>
            <a:ext cx="9144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kern="0" spc="45" dirty="0">
                <a:solidFill>
                  <a:srgbClr val="8591A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PAPERSPRINT TV / SE4041 PART B   •   HIMSARA MKDL · IT22274298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10972800" y="6583680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8591A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04 / 12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4297680"/>
          </a:xfrm>
          <a:prstGeom prst="ellipse">
            <a:avLst/>
          </a:prstGeom>
          <a:solidFill>
            <a:srgbClr val="252E53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66360"/>
            <a:ext cx="1828800" cy="1655064"/>
          </a:xfrm>
          <a:prstGeom prst="ellipse">
            <a:avLst/>
          </a:prstGeom>
          <a:solidFill>
            <a:srgbClr val="116A73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365760"/>
            <a:ext cx="2345436" cy="347472"/>
          </a:xfrm>
          <a:prstGeom prst="roundRect">
            <a:avLst>
              <a:gd name="adj" fmla="val 42105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429768"/>
            <a:ext cx="21168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PROTOTYPE / CUSTOMISATION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5216" y="859536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Build a fair match in seconds.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10972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 topic, team size and supported number of questions per team.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30352" y="1965960"/>
            <a:ext cx="7516368" cy="4297680"/>
          </a:xfrm>
          <a:prstGeom prst="roundRect">
            <a:avLst>
              <a:gd name="adj" fmla="val 2128"/>
            </a:avLst>
          </a:prstGeom>
          <a:solidFill>
            <a:srgbClr val="10182F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pic>
        <p:nvPicPr>
          <p:cNvPr id="9" name="Image 0" descr="/mnt/data/papersprint_tvos_build/setup_t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29968"/>
            <a:ext cx="7388352" cy="41696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6373368"/>
            <a:ext cx="7388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8591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APPLE TV 4K SIMULATOR CAPTURE  /  MATCH SETUP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302752" y="2176272"/>
            <a:ext cx="338328" cy="338328"/>
          </a:xfrm>
          <a:prstGeom prst="roundRect">
            <a:avLst>
              <a:gd name="adj" fmla="val 27027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67674" y="2244852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778240" y="21717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Four topic options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778240" y="2505456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 subjects (30) or Swift Foundations, SwiftUI Essentials and iOS Development (10 each).</a:t>
            </a:r>
            <a:endParaRPr lang="en-US" sz="1270" dirty="0"/>
          </a:p>
        </p:txBody>
      </p:sp>
      <p:sp>
        <p:nvSpPr>
          <p:cNvPr id="15" name="Shape 12"/>
          <p:cNvSpPr/>
          <p:nvPr/>
        </p:nvSpPr>
        <p:spPr>
          <a:xfrm>
            <a:off x="8302752" y="3447288"/>
            <a:ext cx="338328" cy="338328"/>
          </a:xfrm>
          <a:prstGeom prst="roundRect">
            <a:avLst>
              <a:gd name="adj" fmla="val 27027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67674" y="3515868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778240" y="344271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Flexible teams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778240" y="3776472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the match for 2, 3 or 4 teams sharing a single remote.</a:t>
            </a:r>
            <a:endParaRPr lang="en-US" sz="1270" dirty="0"/>
          </a:p>
        </p:txBody>
      </p:sp>
      <p:sp>
        <p:nvSpPr>
          <p:cNvPr id="19" name="Shape 16"/>
          <p:cNvSpPr/>
          <p:nvPr/>
        </p:nvSpPr>
        <p:spPr>
          <a:xfrm>
            <a:off x="8302752" y="4709160"/>
            <a:ext cx="338328" cy="338328"/>
          </a:xfrm>
          <a:prstGeom prst="roundRect">
            <a:avLst>
              <a:gd name="adj" fmla="val 27027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67674" y="4777740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778240" y="47045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Validated rounds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778240" y="5038344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2, 3 or 5 rounds when enough unique questions exist for that subject.</a:t>
            </a:r>
            <a:endParaRPr lang="en-US" sz="1270" dirty="0"/>
          </a:p>
        </p:txBody>
      </p:sp>
      <p:sp>
        <p:nvSpPr>
          <p:cNvPr id="23" name="Shape 20"/>
          <p:cNvSpPr/>
          <p:nvPr/>
        </p:nvSpPr>
        <p:spPr>
          <a:xfrm>
            <a:off x="585216" y="6519672"/>
            <a:ext cx="11009376" cy="0"/>
          </a:xfrm>
          <a:prstGeom prst="line">
            <a:avLst/>
          </a:prstGeom>
          <a:noFill/>
          <a:ln w="12700">
            <a:solidFill>
              <a:srgbClr val="303D5A">
                <a:alpha val="82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2648" y="6601968"/>
            <a:ext cx="9144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kern="0" spc="45" dirty="0">
                <a:solidFill>
                  <a:srgbClr val="8591A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PAPERSPRINT TV / SE4041 PART B   •   HIMSARA MKDL · IT22274298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10972800" y="6583680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8591A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05 / 12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4297680"/>
          </a:xfrm>
          <a:prstGeom prst="ellipse">
            <a:avLst/>
          </a:prstGeom>
          <a:solidFill>
            <a:srgbClr val="252E53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66360"/>
            <a:ext cx="1828800" cy="1655064"/>
          </a:xfrm>
          <a:prstGeom prst="ellipse">
            <a:avLst/>
          </a:prstGeom>
          <a:solidFill>
            <a:srgbClr val="116A73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365760"/>
            <a:ext cx="2345436" cy="347472"/>
          </a:xfrm>
          <a:prstGeom prst="roundRect">
            <a:avLst>
              <a:gd name="adj" fmla="val 42105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429768"/>
            <a:ext cx="21168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PROTOTYPE / COLLABORATION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5216" y="859536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One remote becomes the team baton.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10972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deliberate handoff screen gives everyone an equal turn to participate.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30352" y="1965960"/>
            <a:ext cx="7516368" cy="4297680"/>
          </a:xfrm>
          <a:prstGeom prst="roundRect">
            <a:avLst>
              <a:gd name="adj" fmla="val 2128"/>
            </a:avLst>
          </a:prstGeom>
          <a:solidFill>
            <a:srgbClr val="10182F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pic>
        <p:nvPicPr>
          <p:cNvPr id="9" name="Image 0" descr="/mnt/data/papersprint_tvos_build/handoff_t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29968"/>
            <a:ext cx="7388352" cy="41696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6373368"/>
            <a:ext cx="7388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8591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APPLE TV 4K SIMULATOR CAPTURE  /  TEAM HANDOFF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302752" y="2176272"/>
            <a:ext cx="338328" cy="338328"/>
          </a:xfrm>
          <a:prstGeom prst="roundRect">
            <a:avLst>
              <a:gd name="adj" fmla="val 27027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67674" y="2244852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778240" y="21717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Clear active player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778240" y="2505456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next team is announced before each question begins.</a:t>
            </a:r>
            <a:endParaRPr lang="en-US" sz="1270" dirty="0"/>
          </a:p>
        </p:txBody>
      </p:sp>
      <p:sp>
        <p:nvSpPr>
          <p:cNvPr id="15" name="Shape 12"/>
          <p:cNvSpPr/>
          <p:nvPr/>
        </p:nvSpPr>
        <p:spPr>
          <a:xfrm>
            <a:off x="8302752" y="3447288"/>
            <a:ext cx="338328" cy="338328"/>
          </a:xfrm>
          <a:prstGeom prst="roundRect">
            <a:avLst>
              <a:gd name="adj" fmla="val 27027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67674" y="3515868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778240" y="344271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One device only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778240" y="3776472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 the remote and press Ready to play; no individual phones are needed.</a:t>
            </a:r>
            <a:endParaRPr lang="en-US" sz="1270" dirty="0"/>
          </a:p>
        </p:txBody>
      </p:sp>
      <p:sp>
        <p:nvSpPr>
          <p:cNvPr id="19" name="Shape 16"/>
          <p:cNvSpPr/>
          <p:nvPr/>
        </p:nvSpPr>
        <p:spPr>
          <a:xfrm>
            <a:off x="8302752" y="4709160"/>
            <a:ext cx="338328" cy="338328"/>
          </a:xfrm>
          <a:prstGeom prst="roundRect">
            <a:avLst>
              <a:gd name="adj" fmla="val 27027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67674" y="4777740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778240" y="47045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Relaxed pacing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778240" y="5038344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timer or speed bonus—teams can think and discuss before answering.</a:t>
            </a:r>
            <a:endParaRPr lang="en-US" sz="1270" dirty="0"/>
          </a:p>
        </p:txBody>
      </p:sp>
      <p:sp>
        <p:nvSpPr>
          <p:cNvPr id="23" name="Shape 20"/>
          <p:cNvSpPr/>
          <p:nvPr/>
        </p:nvSpPr>
        <p:spPr>
          <a:xfrm>
            <a:off x="585216" y="6519672"/>
            <a:ext cx="11009376" cy="0"/>
          </a:xfrm>
          <a:prstGeom prst="line">
            <a:avLst/>
          </a:prstGeom>
          <a:noFill/>
          <a:ln w="12700">
            <a:solidFill>
              <a:srgbClr val="303D5A">
                <a:alpha val="82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2648" y="6601968"/>
            <a:ext cx="9144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kern="0" spc="45" dirty="0">
                <a:solidFill>
                  <a:srgbClr val="8591A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PAPERSPRINT TV / SE4041 PART B   •   HIMSARA MKDL · IT22274298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10972800" y="6583680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8591A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06 / 12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4297680"/>
          </a:xfrm>
          <a:prstGeom prst="ellipse">
            <a:avLst/>
          </a:prstGeom>
          <a:solidFill>
            <a:srgbClr val="252E53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66360"/>
            <a:ext cx="1828800" cy="1655064"/>
          </a:xfrm>
          <a:prstGeom prst="ellipse">
            <a:avLst/>
          </a:prstGeom>
          <a:solidFill>
            <a:srgbClr val="116A73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365760"/>
            <a:ext cx="2034540" cy="347472"/>
          </a:xfrm>
          <a:prstGeom prst="roundRect">
            <a:avLst>
              <a:gd name="adj" fmla="val 42105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429768"/>
            <a:ext cx="18059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PROTOTYPE / CORE LOOP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5216" y="859536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Focused answers. Immediate feedback.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10972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directional navigation and a consistent 100-point scoring rule.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30352" y="1965960"/>
            <a:ext cx="7516368" cy="4297680"/>
          </a:xfrm>
          <a:prstGeom prst="roundRect">
            <a:avLst>
              <a:gd name="adj" fmla="val 2128"/>
            </a:avLst>
          </a:prstGeom>
          <a:solidFill>
            <a:srgbClr val="10182F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pic>
        <p:nvPicPr>
          <p:cNvPr id="9" name="Image 0" descr="/mnt/data/papersprint_tvos_build/arena_t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29968"/>
            <a:ext cx="7388352" cy="41696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6373368"/>
            <a:ext cx="7388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8591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APPLE TV 4K SIMULATOR CAPTURE  /  QUIZ ARENA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302752" y="2176272"/>
            <a:ext cx="338328" cy="338328"/>
          </a:xfrm>
          <a:prstGeom prst="roundRect">
            <a:avLst>
              <a:gd name="adj" fmla="val 27027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67674" y="2244852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778240" y="21717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TV-native focus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778240" y="2505456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Directional controls move between large answer buttons; Select confirms a choice.</a:t>
            </a:r>
            <a:endParaRPr lang="en-US" sz="1270" dirty="0"/>
          </a:p>
        </p:txBody>
      </p:sp>
      <p:sp>
        <p:nvSpPr>
          <p:cNvPr id="15" name="Shape 12"/>
          <p:cNvSpPr/>
          <p:nvPr/>
        </p:nvSpPr>
        <p:spPr>
          <a:xfrm>
            <a:off x="8302752" y="3447288"/>
            <a:ext cx="338328" cy="338328"/>
          </a:xfrm>
          <a:prstGeom prst="roundRect">
            <a:avLst>
              <a:gd name="adj" fmla="val 27027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67674" y="3515868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778240" y="344271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Clear outcomes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778240" y="3776472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Answer shows correct / incorrect feedback before the next turn.</a:t>
            </a:r>
            <a:endParaRPr lang="en-US" sz="1270" dirty="0"/>
          </a:p>
        </p:txBody>
      </p:sp>
      <p:sp>
        <p:nvSpPr>
          <p:cNvPr id="19" name="Shape 16"/>
          <p:cNvSpPr/>
          <p:nvPr/>
        </p:nvSpPr>
        <p:spPr>
          <a:xfrm>
            <a:off x="8302752" y="4709160"/>
            <a:ext cx="338328" cy="338328"/>
          </a:xfrm>
          <a:prstGeom prst="roundRect">
            <a:avLst>
              <a:gd name="adj" fmla="val 27027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67674" y="4777740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778240" y="47045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Fair scoring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778240" y="5038344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correct answer gives 100 points; incorrect answers give zero.</a:t>
            </a:r>
            <a:endParaRPr lang="en-US" sz="1270" dirty="0"/>
          </a:p>
        </p:txBody>
      </p:sp>
      <p:sp>
        <p:nvSpPr>
          <p:cNvPr id="23" name="Shape 20"/>
          <p:cNvSpPr/>
          <p:nvPr/>
        </p:nvSpPr>
        <p:spPr>
          <a:xfrm>
            <a:off x="585216" y="6519672"/>
            <a:ext cx="11009376" cy="0"/>
          </a:xfrm>
          <a:prstGeom prst="line">
            <a:avLst/>
          </a:prstGeom>
          <a:noFill/>
          <a:ln w="12700">
            <a:solidFill>
              <a:srgbClr val="303D5A">
                <a:alpha val="82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2648" y="6601968"/>
            <a:ext cx="9144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kern="0" spc="45" dirty="0">
                <a:solidFill>
                  <a:srgbClr val="8591A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PAPERSPRINT TV / SE4041 PART B   •   HIMSARA MKDL · IT22274298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10972800" y="6583680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8591A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07 / 12</a:t>
            </a:r>
            <a:endParaRPr lang="en-US" sz="9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4297680"/>
          </a:xfrm>
          <a:prstGeom prst="ellipse">
            <a:avLst/>
          </a:prstGeom>
          <a:solidFill>
            <a:srgbClr val="252E53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66360"/>
            <a:ext cx="1828800" cy="1655064"/>
          </a:xfrm>
          <a:prstGeom prst="ellipse">
            <a:avLst/>
          </a:prstGeom>
          <a:solidFill>
            <a:srgbClr val="116A73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365760"/>
            <a:ext cx="1879092" cy="347472"/>
          </a:xfrm>
          <a:prstGeom prst="roundRect">
            <a:avLst>
              <a:gd name="adj" fmla="val 42105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429768"/>
            <a:ext cx="16504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PROTOTYPE / OUTCOME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5216" y="859536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Every team sees how the result was earned.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10972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transparent scoreboard completes the session and invites another round.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30352" y="1965960"/>
            <a:ext cx="7516368" cy="4297680"/>
          </a:xfrm>
          <a:prstGeom prst="roundRect">
            <a:avLst>
              <a:gd name="adj" fmla="val 2128"/>
            </a:avLst>
          </a:prstGeom>
          <a:solidFill>
            <a:srgbClr val="10182F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pic>
        <p:nvPicPr>
          <p:cNvPr id="9" name="Image 0" descr="/mnt/data/papersprint_tvos_build/scores_t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29968"/>
            <a:ext cx="7388352" cy="41696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6373368"/>
            <a:ext cx="7388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8591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APPLE TV 4K SIMULATOR CAPTURE  /  FINAL SCOREBOARD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302752" y="2176272"/>
            <a:ext cx="338328" cy="338328"/>
          </a:xfrm>
          <a:prstGeom prst="roundRect">
            <a:avLst>
              <a:gd name="adj" fmla="val 27027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67674" y="2244852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778240" y="21717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Visible ranking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778240" y="2505456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captured 3-team demo shows 300, 200 and 100 points respectively.</a:t>
            </a:r>
            <a:endParaRPr lang="en-US" sz="1270" dirty="0"/>
          </a:p>
        </p:txBody>
      </p:sp>
      <p:sp>
        <p:nvSpPr>
          <p:cNvPr id="15" name="Shape 12"/>
          <p:cNvSpPr/>
          <p:nvPr/>
        </p:nvSpPr>
        <p:spPr>
          <a:xfrm>
            <a:off x="8302752" y="3447288"/>
            <a:ext cx="338328" cy="338328"/>
          </a:xfrm>
          <a:prstGeom prst="roundRect">
            <a:avLst>
              <a:gd name="adj" fmla="val 27027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67674" y="3515868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778240" y="344271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Winner or tie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778240" y="3776472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session model supports top-score winners and tied joint winners.</a:t>
            </a:r>
            <a:endParaRPr lang="en-US" sz="1270" dirty="0"/>
          </a:p>
        </p:txBody>
      </p:sp>
      <p:sp>
        <p:nvSpPr>
          <p:cNvPr id="19" name="Shape 16"/>
          <p:cNvSpPr/>
          <p:nvPr/>
        </p:nvSpPr>
        <p:spPr>
          <a:xfrm>
            <a:off x="8302752" y="4709160"/>
            <a:ext cx="338328" cy="338328"/>
          </a:xfrm>
          <a:prstGeom prst="roundRect">
            <a:avLst>
              <a:gd name="adj" fmla="val 27027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67674" y="4777740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778240" y="47045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Replay loop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778240" y="5038344"/>
            <a:ext cx="28620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 Again reshuffles and resets; Change Match and Home offer easy exits.</a:t>
            </a:r>
            <a:endParaRPr lang="en-US" sz="1270" dirty="0"/>
          </a:p>
        </p:txBody>
      </p:sp>
      <p:sp>
        <p:nvSpPr>
          <p:cNvPr id="23" name="Shape 20"/>
          <p:cNvSpPr/>
          <p:nvPr/>
        </p:nvSpPr>
        <p:spPr>
          <a:xfrm>
            <a:off x="585216" y="6519672"/>
            <a:ext cx="11009376" cy="0"/>
          </a:xfrm>
          <a:prstGeom prst="line">
            <a:avLst/>
          </a:prstGeom>
          <a:noFill/>
          <a:ln w="12700">
            <a:solidFill>
              <a:srgbClr val="303D5A">
                <a:alpha val="82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2648" y="6601968"/>
            <a:ext cx="9144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kern="0" spc="45" dirty="0">
                <a:solidFill>
                  <a:srgbClr val="8591A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PAPERSPRINT TV / SE4041 PART B   •   HIMSARA MKDL · IT22274298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10972800" y="6583680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8591A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08 / 12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4297680"/>
          </a:xfrm>
          <a:prstGeom prst="ellipse">
            <a:avLst/>
          </a:prstGeom>
          <a:solidFill>
            <a:srgbClr val="252E53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66360"/>
            <a:ext cx="1828800" cy="1655064"/>
          </a:xfrm>
          <a:prstGeom prst="ellipse">
            <a:avLst/>
          </a:prstGeom>
          <a:solidFill>
            <a:srgbClr val="116A73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365760"/>
            <a:ext cx="2500884" cy="347472"/>
          </a:xfrm>
          <a:prstGeom prst="roundRect">
            <a:avLst>
              <a:gd name="adj" fmla="val 42105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429768"/>
            <a:ext cx="22722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EXECUTION / TECHNICAL TRUST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5216" y="859536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Built on native SwiftUI and focused game logic.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10972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light, local architecture keeps sessions predictable and comfortable on Apple TV.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3504" y="2176272"/>
            <a:ext cx="2660904" cy="1837944"/>
          </a:xfrm>
          <a:prstGeom prst="roundRect">
            <a:avLst>
              <a:gd name="adj" fmla="val 7960"/>
            </a:avLst>
          </a:prstGeom>
          <a:solidFill>
            <a:srgbClr val="161E38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395728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" y="2862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4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LearningCatalog</a:t>
            </a:r>
            <a:endParaRPr lang="en-US" sz="1640" dirty="0"/>
          </a:p>
        </p:txBody>
      </p:sp>
      <p:sp>
        <p:nvSpPr>
          <p:cNvPr id="11" name="Text 9"/>
          <p:cNvSpPr/>
          <p:nvPr/>
        </p:nvSpPr>
        <p:spPr>
          <a:xfrm>
            <a:off x="804672" y="3264408"/>
            <a:ext cx="2331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bundled MCQs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subjects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81635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520440" y="2176272"/>
            <a:ext cx="2660904" cy="1837944"/>
          </a:xfrm>
          <a:prstGeom prst="roundRect">
            <a:avLst>
              <a:gd name="adj" fmla="val 7960"/>
            </a:avLst>
          </a:prstGeom>
          <a:solidFill>
            <a:srgbClr val="161E38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21608" y="2395728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21608" y="2862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4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MatchSettings</a:t>
            </a:r>
            <a:endParaRPr lang="en-US" sz="1640" dirty="0"/>
          </a:p>
        </p:txBody>
      </p:sp>
      <p:sp>
        <p:nvSpPr>
          <p:cNvPr id="16" name="Text 14"/>
          <p:cNvSpPr/>
          <p:nvPr/>
        </p:nvSpPr>
        <p:spPr>
          <a:xfrm>
            <a:off x="3721608" y="3264408"/>
            <a:ext cx="2331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Subject · Teams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2/3/5 rounds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54496" y="281635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437376" y="2176272"/>
            <a:ext cx="2660904" cy="1837944"/>
          </a:xfrm>
          <a:prstGeom prst="roundRect">
            <a:avLst>
              <a:gd name="adj" fmla="val 7960"/>
            </a:avLst>
          </a:prstGeom>
          <a:solidFill>
            <a:srgbClr val="161E38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38544" y="2395728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38544" y="2862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4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TVQuizSession</a:t>
            </a:r>
            <a:endParaRPr lang="en-US" sz="1640" dirty="0"/>
          </a:p>
        </p:txBody>
      </p:sp>
      <p:sp>
        <p:nvSpPr>
          <p:cNvPr id="21" name="Text 19"/>
          <p:cNvSpPr/>
          <p:nvPr/>
        </p:nvSpPr>
        <p:spPr>
          <a:xfrm>
            <a:off x="6638544" y="3264408"/>
            <a:ext cx="2331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order · Rules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Scores and phases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71432" y="281635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354312" y="2176272"/>
            <a:ext cx="2660904" cy="1837944"/>
          </a:xfrm>
          <a:prstGeom prst="roundRect">
            <a:avLst>
              <a:gd name="adj" fmla="val 7960"/>
            </a:avLst>
          </a:prstGeom>
          <a:solidFill>
            <a:srgbClr val="161E38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55480" y="2395728"/>
            <a:ext cx="475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555480" y="2862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4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SwiftUI Screens</a:t>
            </a:r>
            <a:endParaRPr lang="en-US" sz="1640" dirty="0"/>
          </a:p>
        </p:txBody>
      </p:sp>
      <p:sp>
        <p:nvSpPr>
          <p:cNvPr id="26" name="Text 24"/>
          <p:cNvSpPr/>
          <p:nvPr/>
        </p:nvSpPr>
        <p:spPr>
          <a:xfrm>
            <a:off x="9555480" y="3264408"/>
            <a:ext cx="2331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· Setup · Arena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scoreboard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3504" y="4325112"/>
            <a:ext cx="6537960" cy="1527048"/>
          </a:xfrm>
          <a:prstGeom prst="roundRect">
            <a:avLst>
              <a:gd name="adj" fmla="val 9581"/>
            </a:avLst>
          </a:prstGeom>
          <a:solidFill>
            <a:srgbClr val="10192F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5720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9A8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WHAT THE CODE ENSURES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2104" y="4956048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9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Unique, valid questions in each match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9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Duplicate scoring prevented by match phases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9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Equal number of turns per team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33488" y="4325112"/>
            <a:ext cx="4251960" cy="1527048"/>
          </a:xfrm>
          <a:prstGeom prst="roundRect">
            <a:avLst>
              <a:gd name="adj" fmla="val 9581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0376" y="45720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70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DEMO STATUS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580376" y="4965192"/>
            <a:ext cx="3694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9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Apple TV 4K simulator demo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9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tvOS 18.5 · Manual feature testing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9F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scores are session-only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2648" y="6016752"/>
            <a:ext cx="10954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8591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note: automated functional coverage can be expanded; current evidence is the simulator demo and source implementation.</a:t>
            </a:r>
            <a:endParaRPr lang="en-US" sz="1110" dirty="0"/>
          </a:p>
        </p:txBody>
      </p:sp>
      <p:sp>
        <p:nvSpPr>
          <p:cNvPr id="34" name="Shape 32"/>
          <p:cNvSpPr/>
          <p:nvPr/>
        </p:nvSpPr>
        <p:spPr>
          <a:xfrm>
            <a:off x="585216" y="6519672"/>
            <a:ext cx="11009376" cy="0"/>
          </a:xfrm>
          <a:prstGeom prst="line">
            <a:avLst/>
          </a:prstGeom>
          <a:noFill/>
          <a:ln w="12700">
            <a:solidFill>
              <a:srgbClr val="303D5A">
                <a:alpha val="82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" y="6601968"/>
            <a:ext cx="9144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kern="0" spc="45" dirty="0">
                <a:solidFill>
                  <a:srgbClr val="8591A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PAPERSPRINT TV / SE4041 PART B   •   HIMSARA MKDL · IT22274298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10972800" y="6583680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8591A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09 / 12</a:t>
            </a:r>
            <a:endParaRPr lang="en-US" sz="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4297680"/>
          </a:xfrm>
          <a:prstGeom prst="ellipse">
            <a:avLst/>
          </a:prstGeom>
          <a:solidFill>
            <a:srgbClr val="252E53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66360"/>
            <a:ext cx="1828800" cy="1655064"/>
          </a:xfrm>
          <a:prstGeom prst="ellipse">
            <a:avLst/>
          </a:prstGeom>
          <a:solidFill>
            <a:srgbClr val="116A73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365760"/>
            <a:ext cx="2811780" cy="347472"/>
          </a:xfrm>
          <a:prstGeom prst="roundRect">
            <a:avLst>
              <a:gd name="adj" fmla="val 42105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429768"/>
            <a:ext cx="2583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CATEGORY / SIMILAR APPLICATIONS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5216" y="859536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 familiar quiz category—simpler shared-room play.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10972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Comparable products validate game-based learning and group play, while using different participation models.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3504" y="2176272"/>
            <a:ext cx="3611880" cy="2450592"/>
          </a:xfrm>
          <a:prstGeom prst="roundRect">
            <a:avLst>
              <a:gd name="adj" fmla="val 5970"/>
            </a:avLst>
          </a:prstGeom>
          <a:solidFill>
            <a:srgbClr val="161E38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245059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90" dirty="0">
                <a:solidFill>
                  <a:srgbClr val="99A8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CLASSROOM QUIZZING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3816" y="28254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Kahoot!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3816" y="3346704"/>
            <a:ext cx="3182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question display; players typically answer from their own devices.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3816" y="4251960"/>
            <a:ext cx="3200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BE1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kahoot.com/what-is-kahoot/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4471416" y="2176272"/>
            <a:ext cx="3611880" cy="2450592"/>
          </a:xfrm>
          <a:prstGeom prst="roundRect">
            <a:avLst>
              <a:gd name="adj" fmla="val 5970"/>
            </a:avLst>
          </a:prstGeom>
          <a:solidFill>
            <a:srgbClr val="161E38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245059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90" dirty="0">
                <a:solidFill>
                  <a:srgbClr val="99A8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LIVE CLASSROOM QUIZZES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81728" y="28254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Wayground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81728" y="3346704"/>
            <a:ext cx="3182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Instructor-paced, student-paced and team learning modes.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81728" y="4251960"/>
            <a:ext cx="3200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BE1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wayground.com/home/solutions/live-quizzes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8339328" y="2176272"/>
            <a:ext cx="3611880" cy="2450592"/>
          </a:xfrm>
          <a:prstGeom prst="roundRect">
            <a:avLst>
              <a:gd name="adj" fmla="val 5970"/>
            </a:avLst>
          </a:prstGeom>
          <a:solidFill>
            <a:srgbClr val="161E38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9640" y="245059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90" dirty="0">
                <a:solidFill>
                  <a:srgbClr val="99A8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SCREEN-BASED PARTY GAMES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49640" y="28254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Jackbox Games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549640" y="3346704"/>
            <a:ext cx="3182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shared game screen with players using phones as controllers.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49640" y="4251960"/>
            <a:ext cx="3200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BE1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jackboxgames.com/how-to-play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612648" y="4892040"/>
            <a:ext cx="10963656" cy="1060704"/>
          </a:xfrm>
          <a:prstGeom prst="roundRect">
            <a:avLst>
              <a:gd name="adj" fmla="val 13793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" y="5074920"/>
            <a:ext cx="7882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kern="0" spc="80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PAPERSPRINT TV / OUR POSITION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859536" y="5431536"/>
            <a:ext cx="10168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3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 TV-native, pass-the-remote revision quiz: 2–4 teams, local content, no join codes and no player phones.</a:t>
            </a:r>
            <a:endParaRPr lang="en-US" sz="1630" dirty="0"/>
          </a:p>
        </p:txBody>
      </p:sp>
      <p:sp>
        <p:nvSpPr>
          <p:cNvPr id="26" name="Shape 24"/>
          <p:cNvSpPr/>
          <p:nvPr/>
        </p:nvSpPr>
        <p:spPr>
          <a:xfrm>
            <a:off x="585216" y="6519672"/>
            <a:ext cx="11009376" cy="0"/>
          </a:xfrm>
          <a:prstGeom prst="line">
            <a:avLst/>
          </a:prstGeom>
          <a:noFill/>
          <a:ln w="12700">
            <a:solidFill>
              <a:srgbClr val="303D5A">
                <a:alpha val="8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" y="6601968"/>
            <a:ext cx="9144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kern="0" spc="45" dirty="0">
                <a:solidFill>
                  <a:srgbClr val="8591A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PAPERSPRINT TV / SE4041 PART B   •   HIMSARA MKDL · IT22274298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10972800" y="6583680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8591A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10 / 12</a:t>
            </a:r>
            <a:endParaRPr lang="en-US" sz="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4297680"/>
          </a:xfrm>
          <a:prstGeom prst="ellipse">
            <a:avLst/>
          </a:prstGeom>
          <a:solidFill>
            <a:srgbClr val="252E53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66360"/>
            <a:ext cx="1828800" cy="1655064"/>
          </a:xfrm>
          <a:prstGeom prst="ellipse">
            <a:avLst/>
          </a:prstGeom>
          <a:solidFill>
            <a:srgbClr val="116A73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365760"/>
            <a:ext cx="2656332" cy="347472"/>
          </a:xfrm>
          <a:prstGeom prst="roundRect">
            <a:avLst>
              <a:gd name="adj" fmla="val 42105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429768"/>
            <a:ext cx="24277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AUDIENCE / REVENUE HYPOTHESIS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5216" y="859536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Start with small learning groups. Earn expansion.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10972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opportunities are proposed—not current paid features of this student prototype.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3504" y="2167128"/>
            <a:ext cx="3611880" cy="1097280"/>
          </a:xfrm>
          <a:prstGeom prst="roundRect">
            <a:avLst>
              <a:gd name="adj" fmla="val 13333"/>
            </a:avLst>
          </a:prstGeom>
          <a:solidFill>
            <a:srgbClr val="161E38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350008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Peer study groups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" y="2724912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Friends revising together before exams.</a:t>
            </a:r>
            <a:endParaRPr lang="en-US" sz="1270" dirty="0"/>
          </a:p>
        </p:txBody>
      </p:sp>
      <p:sp>
        <p:nvSpPr>
          <p:cNvPr id="11" name="Shape 9"/>
          <p:cNvSpPr/>
          <p:nvPr/>
        </p:nvSpPr>
        <p:spPr>
          <a:xfrm>
            <a:off x="4471416" y="2167128"/>
            <a:ext cx="3611880" cy="1097280"/>
          </a:xfrm>
          <a:prstGeom prst="roundRect">
            <a:avLst>
              <a:gd name="adj" fmla="val 13333"/>
            </a:avLst>
          </a:prstGeom>
          <a:solidFill>
            <a:srgbClr val="161E38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2350008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Tutorial classes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72584" y="2724912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Facilitators running short team challenges.</a:t>
            </a:r>
            <a:endParaRPr lang="en-US" sz="1270" dirty="0"/>
          </a:p>
        </p:txBody>
      </p:sp>
      <p:sp>
        <p:nvSpPr>
          <p:cNvPr id="14" name="Shape 12"/>
          <p:cNvSpPr/>
          <p:nvPr/>
        </p:nvSpPr>
        <p:spPr>
          <a:xfrm>
            <a:off x="8339328" y="2167128"/>
            <a:ext cx="3611880" cy="1097280"/>
          </a:xfrm>
          <a:prstGeom prst="roundRect">
            <a:avLst>
              <a:gd name="adj" fmla="val 13333"/>
            </a:avLst>
          </a:prstGeom>
          <a:solidFill>
            <a:srgbClr val="161E38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0496" y="2350008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Student communities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40496" y="2724912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Clubs and campus-led knowledge nights.</a:t>
            </a:r>
            <a:endParaRPr lang="en-US" sz="1270" dirty="0"/>
          </a:p>
        </p:txBody>
      </p:sp>
      <p:sp>
        <p:nvSpPr>
          <p:cNvPr id="17" name="Shape 15"/>
          <p:cNvSpPr/>
          <p:nvPr/>
        </p:nvSpPr>
        <p:spPr>
          <a:xfrm>
            <a:off x="603504" y="3511296"/>
            <a:ext cx="5358384" cy="2212848"/>
          </a:xfrm>
          <a:prstGeom prst="roundRect">
            <a:avLst>
              <a:gd name="adj" fmla="val 6612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76732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85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FREE / PRODUCT ENTRY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4160520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Make it easy to start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59536" y="4599432"/>
            <a:ext cx="4681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Bundled revision topics and local quizzes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Team play and final scoreboard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One remote; no account required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08776" y="3511296"/>
            <a:ext cx="5367528" cy="2212848"/>
          </a:xfrm>
          <a:prstGeom prst="roundRect">
            <a:avLst>
              <a:gd name="adj" fmla="val 6612"/>
            </a:avLst>
          </a:prstGeom>
          <a:solidFill>
            <a:srgbClr val="161E38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767328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85" dirty="0">
                <a:solidFill>
                  <a:srgbClr val="99A8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FUTURE PREMIUM / PROPOSED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4160520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Sell useful depth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464808" y="459943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Additional subject and exam-prep packs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Educator / classroom activity collections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Optional facilitator reporting tools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12648" y="6007608"/>
            <a:ext cx="10954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TEST  →  Track group session completion, replay rate and willingness to try curated topic packs.</a:t>
            </a:r>
            <a:endParaRPr lang="en-US" sz="1230" dirty="0"/>
          </a:p>
        </p:txBody>
      </p:sp>
      <p:sp>
        <p:nvSpPr>
          <p:cNvPr id="26" name="Shape 24"/>
          <p:cNvSpPr/>
          <p:nvPr/>
        </p:nvSpPr>
        <p:spPr>
          <a:xfrm>
            <a:off x="585216" y="6519672"/>
            <a:ext cx="11009376" cy="0"/>
          </a:xfrm>
          <a:prstGeom prst="line">
            <a:avLst/>
          </a:prstGeom>
          <a:noFill/>
          <a:ln w="12700">
            <a:solidFill>
              <a:srgbClr val="303D5A">
                <a:alpha val="8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" y="6601968"/>
            <a:ext cx="9144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kern="0" spc="45" dirty="0">
                <a:solidFill>
                  <a:srgbClr val="8591A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PAPERSPRINT TV / SE4041 PART B   •   HIMSARA MKDL · IT22274298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10972800" y="6583680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8591A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11 / 12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4297680"/>
          </a:xfrm>
          <a:prstGeom prst="ellipse">
            <a:avLst/>
          </a:prstGeom>
          <a:solidFill>
            <a:srgbClr val="252E53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66360"/>
            <a:ext cx="1828800" cy="1655064"/>
          </a:xfrm>
          <a:prstGeom prst="ellipse">
            <a:avLst/>
          </a:prstGeom>
          <a:solidFill>
            <a:srgbClr val="116A73">
              <a:alpha val="1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365760"/>
            <a:ext cx="2112264" cy="347472"/>
          </a:xfrm>
          <a:prstGeom prst="roundRect">
            <a:avLst>
              <a:gd name="adj" fmla="val 42105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429768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GO-TO-MARKET / THE ASK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5216" y="859536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Let’s make revision a shared-screen habit.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10972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a working simulator prototype to measured group-learning demand.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3504" y="2157984"/>
            <a:ext cx="3621024" cy="2423160"/>
          </a:xfrm>
          <a:prstGeom prst="roundRect">
            <a:avLst>
              <a:gd name="adj" fmla="val 6038"/>
            </a:avLst>
          </a:prstGeom>
          <a:solidFill>
            <a:srgbClr val="161E38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441448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NOW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843784"/>
            <a:ext cx="3154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Working prototype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32104" y="3410712"/>
            <a:ext cx="311810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tvOS quiz; 2–4 teams; local content; manual simulator demonstration.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71416" y="2157984"/>
            <a:ext cx="3621024" cy="2423160"/>
          </a:xfrm>
          <a:prstGeom prst="roundRect">
            <a:avLst>
              <a:gd name="adj" fmla="val 6038"/>
            </a:avLst>
          </a:prstGeom>
          <a:solidFill>
            <a:srgbClr val="161E38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441448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NEXT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90872" y="2843784"/>
            <a:ext cx="3154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Small campus pilot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00016" y="3410712"/>
            <a:ext cx="311810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Invite student study groups and tutorial facilitators; collect usability and replay feedback.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39328" y="2157984"/>
            <a:ext cx="3621024" cy="2423160"/>
          </a:xfrm>
          <a:prstGeom prst="roundRect">
            <a:avLst>
              <a:gd name="adj" fmla="val 6038"/>
            </a:avLst>
          </a:prstGeom>
          <a:solidFill>
            <a:srgbClr val="161E38"/>
          </a:solidFill>
          <a:ln w="12700">
            <a:solidFill>
              <a:srgbClr val="303D5A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77072" y="2441448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558784" y="2843784"/>
            <a:ext cx="3154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Build for adoption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567928" y="3410712"/>
            <a:ext cx="311810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 question packs, accessibility, facilitator tools and release readiness.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3504" y="4882896"/>
            <a:ext cx="10972800" cy="1051560"/>
          </a:xfrm>
          <a:prstGeom prst="roundRect">
            <a:avLst>
              <a:gd name="adj" fmla="val 13913"/>
            </a:avLst>
          </a:prstGeom>
          <a:solidFill>
            <a:srgbClr val="173E40"/>
          </a:solidFill>
          <a:ln w="12700">
            <a:solidFill>
              <a:srgbClr val="173E4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5111496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BE1B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ASK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75104" y="5001768"/>
            <a:ext cx="8897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9FB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Pilot partners, learner feedback and education-content collaborators.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1792" y="6126480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0B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Presenter: Himsara MKDL   |   IT22274298   |   SE4041 Assignment 02 — Part 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5216" y="6519672"/>
            <a:ext cx="11009376" cy="0"/>
          </a:xfrm>
          <a:prstGeom prst="line">
            <a:avLst/>
          </a:prstGeom>
          <a:noFill/>
          <a:ln w="12700">
            <a:solidFill>
              <a:srgbClr val="303D5A">
                <a:alpha val="8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6601968"/>
            <a:ext cx="9144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kern="0" spc="45" dirty="0">
                <a:solidFill>
                  <a:srgbClr val="8591A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PAPERSPRINT TV / SE4041 PART B   •   HIMSARA MKDL · IT22274298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10972800" y="6583680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8591A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12 / 12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1316</Words>
  <Application>Microsoft Office PowerPoint</Application>
  <PresentationFormat>Widescreen</PresentationFormat>
  <Paragraphs>233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Inter</vt:lpstr>
      <vt:lpstr>Inter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SLIIT - Faculty of Computing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PaperSprint TV | Big screen. Shared knowledge.</dc:title>
  <dc:subject>PaperSprint TV - SE4041 MADD Assignment 02 Part B Investor Pitch</dc:subject>
  <dc:creator>Himsara MKDL</dc:creator>
  <cp:lastModifiedBy>Luthira Himsara</cp:lastModifiedBy>
  <cp:revision>1</cp:revision>
  <dcterms:created xsi:type="dcterms:W3CDTF">2026-10-15T17:57:35Z</dcterms:created>
  <dcterms:modified xsi:type="dcterms:W3CDTF">2026-10-15T18:01:05Z</dcterms:modified>
</cp:coreProperties>
</file>